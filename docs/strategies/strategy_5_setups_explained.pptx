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0" y="0"/>
            <a:ext cx="73152" cy="6858000"/>
          </a:xfrm>
          <a:prstGeom prst="rect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B841"/>
                </a:solidFill>
                <a:latin typeface="Calibri"/>
              </a:rPr>
              <a:t>STOCKTRADING / STRATEGY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3566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Intraday Stock Futures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How the 4 setups generate 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B841"/>
                </a:solidFill>
                <a:latin typeface="Calibri"/>
              </a:rPr>
              <a:t>A beginner's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37160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C7293"/>
                </a:solidFill>
                <a:latin typeface="Calibri"/>
              </a:rPr>
              <a:t>AT A GLANCE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783080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4C81"/>
                </a:solidFill>
                <a:latin typeface="Calibri"/>
              </a:rPr>
              <a:t>Trade NSE stock futures intraday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2743200"/>
            <a:ext cx="3200400" cy="11887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60" y="288036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4C81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3520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Setups (playbooks)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2743200"/>
            <a:ext cx="3200400" cy="11887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288036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C7293"/>
                </a:solidFill>
                <a:latin typeface="Calibri"/>
              </a:rPr>
              <a:t>15-20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3520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Stocks watched daily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4206240"/>
            <a:ext cx="3200400" cy="11887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60" y="434340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B841"/>
                </a:solidFill>
                <a:latin typeface="Calibri"/>
              </a:rPr>
              <a:t>9:30-2:45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4983479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Trading window (IST)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4206240"/>
            <a:ext cx="3200400" cy="11887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434340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DC2626"/>
                </a:solidFill>
                <a:latin typeface="Calibri"/>
              </a:rPr>
              <a:t>3:15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4983479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Force-close — no overnight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6035040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Goal per trade: 1-2% intraday move  ·  Default: 1 lot, max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C7293"/>
                </a:solidFill>
                <a:latin typeface="Calibri"/>
              </a:rPr>
              <a:t>SLIDE 02  ·  THE BIG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4C81"/>
                </a:solidFill>
                <a:latin typeface="Calibri"/>
              </a:rPr>
              <a:t>What is Strategy 5?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94360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Strategy 5 is an autonomous intraday trading system for Indian stock futures.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Unlike Strategies 1-4, you don't manually pick stocks or push a scan button. Each morning the AI agent: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1.  Reviews yesterday's results + global cues at 8:00 AM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2.  Scores all ~180 F&amp;O stocks and picks 15-20 for today's watchlist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3.  Watches each stock for ANY of 4 setups to trigger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4.  Fires a signal only when filters + confidence pass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5.  Squares off everything by 3:15 PM — never holds overnight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0F4C81"/>
                </a:solidFill>
                <a:latin typeface="Calibri"/>
              </a:rPr>
              <a:t>Why 4 setups?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No single setup works all day. Each one captures a different kind of move — a breakout, a pullback, a level break, or a gap. Running them in parallel gives more high-quality opportunities while the time-of-day rules keep the wrong setup from firing in the wrong conditions.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846320" cy="493776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50876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C7293"/>
                </a:solidFill>
                <a:latin typeface="Calibri"/>
              </a:rPr>
              <a:t>KEY NUMBERS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196596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Target 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1965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F4C81"/>
                </a:solidFill>
                <a:latin typeface="Calibri"/>
              </a:rPr>
              <a:t>1-2% intraday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242316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Holding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24231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F4C81"/>
                </a:solidFill>
                <a:latin typeface="Calibri"/>
              </a:rPr>
              <a:t>Intraday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88036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Force-close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28803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F4C81"/>
                </a:solidFill>
                <a:latin typeface="Calibri"/>
              </a:rPr>
              <a:t>3:15 PM 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333756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Max trades/day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33375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F4C81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379476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Max simultaneous positions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37947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F4C81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425196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Max daily drawdown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4251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F4C81"/>
                </a:solidFill>
                <a:latin typeface="Calibri"/>
              </a:rPr>
              <a:t>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470916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Min confidence to fire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47091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F4C81"/>
                </a:solidFill>
                <a:latin typeface="Calibri"/>
              </a:rPr>
              <a:t>60 / 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516636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Default position size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51663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F4C81"/>
                </a:solidFill>
                <a:latin typeface="Calibri"/>
              </a:rPr>
              <a:t>1 lot (max 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562356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Halts trading if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56235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F4C81"/>
                </a:solidFill>
                <a:latin typeface="Calibri"/>
              </a:rPr>
              <a:t>India VIX &gt; 20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Strategy 5  ·  Intraday Stock Futures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C7293"/>
                </a:solidFill>
                <a:latin typeface="Calibri"/>
              </a:rPr>
              <a:t>SLIDE 03  ·  THE TRADING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4C81"/>
                </a:solidFill>
                <a:latin typeface="Calibri"/>
              </a:rPr>
              <a:t>Different times of day -&gt; different setups</a:t>
            </a:r>
          </a:p>
        </p:txBody>
      </p:sp>
      <p:pic>
        <p:nvPicPr>
          <p:cNvPr id="5" name="Picture 4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40241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846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C7293"/>
                </a:solidFill>
                <a:latin typeface="Calibri"/>
              </a:rPr>
              <a:t>WHY TIME-OF-DAY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12080"/>
            <a:ext cx="11247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Markets behave differently through the day. Strategy 5 uses a phase state machine that decides which setups can fire at any moment.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 Morning (9:30-11:30): high volume, fresh news, clear ranges -&gt; all 4 setups eligible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 Caution Zone (11:30-1:00): lunch lull, choppy -&gt; only 2 setups, RVOL bar raised to 2.5x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 Afternoon (1:00-2:45): trends resume -&gt; ORB &amp; Gap have expired, only 2 setups remain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 Closing (2:45-3:15): no new entries — manage and force-close existing positions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Strategy 5  ·  Intraday Stock Futures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C7293"/>
                </a:solidFill>
                <a:latin typeface="Calibri"/>
              </a:rPr>
              <a:t>SLIDE 04  ·  THE PLAYBOOKS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4C81"/>
                </a:solidFill>
                <a:latin typeface="Calibri"/>
              </a:rPr>
              <a:t>The 4 setups at a glance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5486400" cy="219456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09728" cy="219456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527048"/>
            <a:ext cx="640080" cy="640080"/>
          </a:xfrm>
          <a:prstGeom prst="round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72768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0876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F4C81"/>
                </a:solidFill>
                <a:latin typeface="Calibri"/>
              </a:rPr>
              <a:t>ORB Breakout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96596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4C81"/>
                </a:solidFill>
                <a:latin typeface="Calibri"/>
              </a:rPr>
              <a:t>9:30 - 11:00 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77439"/>
            <a:ext cx="49834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First 15 min sets a range. Break of that range = early-day momentum.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Captures: opening breakouts when news/orders pile up at the open.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486400" cy="219456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109728" cy="21945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37959" y="1527048"/>
            <a:ext cx="640080" cy="64008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1572768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150876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F4C81"/>
                </a:solidFill>
                <a:latin typeface="Calibri"/>
              </a:rPr>
              <a:t>VWAP Bounce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196596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C7293"/>
                </a:solidFill>
                <a:latin typeface="Calibri"/>
              </a:rPr>
              <a:t>10:00 AM - 2:45 PM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2377439"/>
            <a:ext cx="49834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In a trend, price pulls back to VWAP and bounces — buy the dip.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Captures: trend-continuation throughout the day. Longest window.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03320"/>
            <a:ext cx="5486400" cy="219456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703320"/>
            <a:ext cx="109728" cy="2194560"/>
          </a:xfrm>
          <a:prstGeom prst="rect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3904487"/>
            <a:ext cx="640080" cy="640080"/>
          </a:xfrm>
          <a:prstGeom prst="roundRect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950208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8862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F4C81"/>
                </a:solidFill>
                <a:latin typeface="Calibri"/>
              </a:rPr>
              <a:t>PDH / PDL Breakout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34340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B841"/>
                </a:solidFill>
                <a:latin typeface="Calibri"/>
              </a:rPr>
              <a:t>9:30 AM - 2:00 PM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754879"/>
            <a:ext cx="49834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Yesterday's high/low are key levels. A clean break = new strength/weakness.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Captures: range expansion when the stock pierces a known level.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703320"/>
            <a:ext cx="5486400" cy="219456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703320"/>
            <a:ext cx="109728" cy="21945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37959" y="3904487"/>
            <a:ext cx="640080" cy="64008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59" y="3950208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8862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F4C81"/>
                </a:solidFill>
                <a:latin typeface="Calibri"/>
              </a:rPr>
              <a:t>Gap Continuation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34340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Calibri"/>
              </a:rPr>
              <a:t>9:30 - 11:00 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59" y="4754879"/>
            <a:ext cx="49834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Stock opens with a &gt;0.5% gap. If price holds the gap for 15 min, momentum continues.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Captures: overnight news translating into directional follow-through.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989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If two setups trigger on the same stock, the highest-priority one wins (priority depends on the time window).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Strategy 5  ·  Intraday Stock Futures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C7293"/>
                </a:solidFill>
                <a:latin typeface="Calibri"/>
              </a:rPr>
              <a:t>SLIDE 05  ·  SETUP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4C81"/>
                </a:solidFill>
                <a:latin typeface="Calibri"/>
              </a:rPr>
              <a:t>ORB — Opening Range Breakout</a:t>
            </a:r>
          </a:p>
        </p:txBody>
      </p:sp>
      <p:pic>
        <p:nvPicPr>
          <p:cNvPr id="5" name="Picture 4" descr="or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949440" cy="363771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80960" y="1371600"/>
            <a:ext cx="4114800" cy="5074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0" y="1371600"/>
            <a:ext cx="91440" cy="507492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50876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C7293"/>
                </a:solidFill>
                <a:latin typeface="Calibri"/>
              </a:rPr>
              <a:t>TIME WINDOW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82880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4C81"/>
                </a:solidFill>
                <a:latin typeface="Calibri"/>
              </a:rPr>
              <a:t>9:30 - 11:00 AM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33172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C7293"/>
                </a:solidFill>
                <a:latin typeface="Calibri"/>
              </a:rPr>
              <a:t>HOW IT TRIGGERS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651760"/>
            <a:ext cx="3840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•  Record the high &amp; low of the first 15 min (9:15-9:30).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•  Wait for a 5-min candle to CLOSE above the high -&gt; BUY.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   (Or close below the low -&gt; SELL.)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•  Breakout candle volume must be &gt; 1.2x average.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•  Price must be on the right side of VWAP.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25196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C7293"/>
                </a:solidFill>
                <a:latin typeface="Calibri"/>
              </a:rPr>
              <a:t>WHY THIS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572000"/>
            <a:ext cx="3840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The first 15 min sets the day's pivot. A clean break shows that buyers (or sellers) have decisively taken control of the day.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If price also clears yesterday's high it becomes an 'Enhanced ORB' with higher confidence.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571500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C7293"/>
                </a:solidFill>
                <a:latin typeface="Calibri"/>
              </a:rPr>
              <a:t>SL /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60350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SL: opposite side of the ORB.   Target: nearest structure with R:R &gt;= 1.5.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8932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Illustrative chart — concept only, not a real trade.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Strategy 5  ·  Intraday Stock Futures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C7293"/>
                </a:solidFill>
                <a:latin typeface="Calibri"/>
              </a:rPr>
              <a:t>SLIDE 06  ·  SETUP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4C81"/>
                </a:solidFill>
                <a:latin typeface="Calibri"/>
              </a:rPr>
              <a:t>VWAP Bounce / Pullback</a:t>
            </a:r>
          </a:p>
        </p:txBody>
      </p:sp>
      <p:pic>
        <p:nvPicPr>
          <p:cNvPr id="5" name="Picture 4" descr="vw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949440" cy="363501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80960" y="1371600"/>
            <a:ext cx="4114800" cy="5074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0" y="1371600"/>
            <a:ext cx="91440" cy="50749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50876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C7293"/>
                </a:solidFill>
                <a:latin typeface="Calibri"/>
              </a:rPr>
              <a:t>TIME WINDOW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82880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C7293"/>
                </a:solidFill>
                <a:latin typeface="Calibri"/>
              </a:rPr>
              <a:t>10:00 AM - 2:45 PM (longest window)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33172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C7293"/>
                </a:solidFill>
                <a:latin typeface="Calibri"/>
              </a:rPr>
              <a:t>HOW IT TRIGGERS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651760"/>
            <a:ext cx="3840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•  VWAP = volume-weighted average price (the day's 'fair price').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•  Identify trend: price stays above VWAP for 30+ min = uptrend.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•  Wait for price to pull back to VWAP (within 0.2%).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•  Look for a bullish reversal candle (pin bar / engulfing).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•  Rejection candle volume must be &gt; average -&gt; BUY.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25196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C7293"/>
                </a:solidFill>
                <a:latin typeface="Calibri"/>
              </a:rPr>
              <a:t>WHY THIS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572000"/>
            <a:ext cx="3840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VWAP is where most of the day's volume traded — institutions defend it. In a trend, pullbacks to VWAP are low-risk re-entries.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It works all day because trends, once established, persist. That's why this setup has the longest active window.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571500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C7293"/>
                </a:solidFill>
                <a:latin typeface="Calibri"/>
              </a:rPr>
              <a:t>SL /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60350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SL: just below VWAP.   Target: today's swing high (or 1.5x risk).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8932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Illustrative chart — concept only, not a real trade.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Strategy 5  ·  Intraday Stock Futures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C7293"/>
                </a:solidFill>
                <a:latin typeface="Calibri"/>
              </a:rPr>
              <a:t>SLIDE 07  ·  SETUP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4C81"/>
                </a:solidFill>
                <a:latin typeface="Calibri"/>
              </a:rPr>
              <a:t>PDH / PDL Breakout</a:t>
            </a:r>
          </a:p>
        </p:txBody>
      </p:sp>
      <p:pic>
        <p:nvPicPr>
          <p:cNvPr id="5" name="Picture 4" descr="pd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949440" cy="365951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80960" y="1371600"/>
            <a:ext cx="4114800" cy="5074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0" y="1371600"/>
            <a:ext cx="91440" cy="5074920"/>
          </a:xfrm>
          <a:prstGeom prst="rect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50876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C7293"/>
                </a:solidFill>
                <a:latin typeface="Calibri"/>
              </a:rPr>
              <a:t>TIME WINDOW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82880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B841"/>
                </a:solidFill>
                <a:latin typeface="Calibri"/>
              </a:rPr>
              <a:t>9:30 AM - 2:00 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33172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C7293"/>
                </a:solidFill>
                <a:latin typeface="Calibri"/>
              </a:rPr>
              <a:t>HOW IT TRIGGERS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651760"/>
            <a:ext cx="3840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•  PDH/PDL = Previous Day High/Low. Everyone watches them.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•  Wait for a 5-min candle to CLOSE above PDH -&gt; BUY.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   (Or close below PDL -&gt; SELL.)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•  Breakout volume must be &gt; 1.5x average (stricter than ORB).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•  Price must be on the right side of VWAP.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25196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C7293"/>
                </a:solidFill>
                <a:latin typeface="Calibri"/>
              </a:rPr>
              <a:t>WHY THIS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572000"/>
            <a:ext cx="3840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PDH/PDL are universal reference points: charts, alerts, algos all key off them. A clean break unlocks a fresh range — supply/demand shifts.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Active most of the day because the level itself doesn't expire. We stop at 2:00 PM so the trade has time to play out before force-close.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571500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C7293"/>
                </a:solidFill>
                <a:latin typeface="Calibri"/>
              </a:rPr>
              <a:t>SL /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60350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SL: just below PDH (longs).   Target: measured move of yesterday's range.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8932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Illustrative chart — concept only, not a real trade.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Strategy 5  ·  Intraday Stock Futures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C7293"/>
                </a:solidFill>
                <a:latin typeface="Calibri"/>
              </a:rPr>
              <a:t>SLIDE 08  ·  SETUP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4C81"/>
                </a:solidFill>
                <a:latin typeface="Calibri"/>
              </a:rPr>
              <a:t>Gap Continuation</a:t>
            </a:r>
          </a:p>
        </p:txBody>
      </p:sp>
      <p:pic>
        <p:nvPicPr>
          <p:cNvPr id="5" name="Picture 4" descr="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949440" cy="363771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80960" y="1371600"/>
            <a:ext cx="4114800" cy="5074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0" y="1371600"/>
            <a:ext cx="91440" cy="5074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50876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C7293"/>
                </a:solidFill>
                <a:latin typeface="Calibri"/>
              </a:rPr>
              <a:t>TIME WINDOW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82880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A34A"/>
                </a:solidFill>
                <a:latin typeface="Calibri"/>
              </a:rPr>
              <a:t>9:30 - 11:00 AM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33172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C7293"/>
                </a:solidFill>
                <a:latin typeface="Calibri"/>
              </a:rPr>
              <a:t>HOW IT TRIGGERS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651760"/>
            <a:ext cx="3840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•  Gap = today's open is &gt;0.5% above (or below) yesterday's close.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•  Watch the first 15 min: does price stay on the gap side?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•  Opening 15-min volume must be &gt; 2x average (very strict).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•  After 9:30, if price holds -&gt; BUY (continuation).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•  If price 'fills' the gap, the thesis is dead — skip.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25196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C7293"/>
                </a:solidFill>
                <a:latin typeface="Calibri"/>
              </a:rPr>
              <a:t>WHY THIS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572000"/>
            <a:ext cx="3840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Gaps come from overnight news or earnings. If the market keeps buying after the open, that news is being absorbed positively — momentum continues.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Morning-only because gap energy fades fast: by midday the gap is old news and price tends to mean-revert.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571500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C7293"/>
                </a:solidFill>
                <a:latin typeface="Calibri"/>
              </a:rPr>
              <a:t>SL /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60350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SL: just above previous close (gap-fill = invalidation).   Target: gap size projected forward.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8932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Illustrative chart — concept only, not a real trade.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Strategy 5  ·  Intraday Stock Futures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C7293"/>
                </a:solidFill>
                <a:latin typeface="Calibri"/>
              </a:rPr>
              <a:t>SLIDE 09  ·  FROM IDEA TO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4C81"/>
                </a:solidFill>
                <a:latin typeface="Calibri"/>
              </a:rPr>
              <a:t>How a setup turns into an actual signal</a:t>
            </a:r>
          </a:p>
        </p:txBody>
      </p:sp>
      <p:pic>
        <p:nvPicPr>
          <p:cNvPr id="5" name="Picture 4" descr="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6126480" cy="39550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13716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C7293"/>
                </a:solidFill>
                <a:latin typeface="Calibri"/>
              </a:rPr>
              <a:t>THE FILTER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737360"/>
            <a:ext cx="51206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A setup TRIGGER is just the start. Before the system fires a signal, every candidate is checked against a stack of hard filters and a confidence score: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F4C81"/>
                </a:solidFill>
                <a:latin typeface="Calibri"/>
              </a:rPr>
              <a:t>Hard filters (must all pass):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•  RVOL &gt;= 1.5x  (or 2.5x in caution zone) — volume must be elevated for this time of day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•  ADR &gt; 1.5%  — stock must move enough to be worth trading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•  Stock price &gt; Rs 100  — avoid slippage on cheap tickers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•  VWAP alignment  — price must be on the right side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•  Nifty bias not strongly opposing  — don't fight the index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•  Stock multi-day trend not strongly opposing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F4C81"/>
                </a:solidFill>
                <a:latin typeface="Calibri"/>
              </a:rPr>
              <a:t>Confidence score (8 factors -&gt; 0-100):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Volume, RVOL, Nifty bias, market phase, setup quality, screener rank, gap alignment, multi-day trend.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&gt;= 60 -&gt; executable signal.   30-60 -&gt; recorded but not executed.   &lt; 30 -&gt; discarded.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F4C81"/>
                </a:solidFill>
                <a:latin typeface="Calibri"/>
              </a:rPr>
              <a:t>Cross-position checks: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Max 3 open positions, max 5 trades/day, no two trades from same sector, halt if daily drawdown &gt;= 3%.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Strategy 5  ·  Intraday Stock Futures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C7293"/>
                </a:solidFill>
                <a:latin typeface="Calibri"/>
              </a:rPr>
              <a:t>SLIDE 10  ·  PUTTING IT ALL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4C81"/>
                </a:solidFill>
                <a:latin typeface="Calibri"/>
              </a:rPr>
              <a:t>Why each setup runs when it does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743200" cy="640080"/>
          </a:xfrm>
          <a:prstGeom prst="round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ORB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Morning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2743200" cy="25146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237744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1C7293"/>
                </a:solidFill>
                <a:latin typeface="Calibri"/>
              </a:rPr>
              <a:t>WINDOW LOGIC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Range only exists right after the open.</a:t>
            </a:r>
          </a:p>
          <a:p>
            <a:pPr algn="l">
              <a:spcAft>
                <a:spcPts val="400"/>
              </a:spcAft>
            </a:pPr>
            <a:r>
              <a:rPr sz="950" b="1">
                <a:solidFill>
                  <a:srgbClr val="1C7293"/>
                </a:solidFill>
                <a:latin typeface="Calibri"/>
              </a:rPr>
              <a:t>EDGE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Momentum strongest in first 90 min.</a:t>
            </a:r>
          </a:p>
          <a:p>
            <a:pPr algn="l">
              <a:spcAft>
                <a:spcPts val="400"/>
              </a:spcAft>
            </a:pPr>
            <a:r>
              <a:rPr sz="950" b="1">
                <a:solidFill>
                  <a:srgbClr val="1C7293"/>
                </a:solidFill>
                <a:latin typeface="Calibri"/>
              </a:rPr>
              <a:t>EXPIRES BECAUSE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Expires at 11:00 AM — older breakouts fail more often.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371600"/>
            <a:ext cx="2743200" cy="64008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4630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VWAP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7373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All day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2103120"/>
            <a:ext cx="2743200" cy="25146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2240280"/>
            <a:ext cx="237744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1C7293"/>
                </a:solidFill>
                <a:latin typeface="Calibri"/>
              </a:rPr>
              <a:t>WINDOW LOGIC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Trends develop and re-test VWAP repeatedly.</a:t>
            </a:r>
          </a:p>
          <a:p>
            <a:pPr algn="l">
              <a:spcAft>
                <a:spcPts val="400"/>
              </a:spcAft>
            </a:pPr>
            <a:r>
              <a:rPr sz="950" b="1">
                <a:solidFill>
                  <a:srgbClr val="1C7293"/>
                </a:solidFill>
                <a:latin typeface="Calibri"/>
              </a:rPr>
              <a:t>EDGE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Works in trending AND choppy markets.</a:t>
            </a:r>
          </a:p>
          <a:p>
            <a:pPr algn="l">
              <a:spcAft>
                <a:spcPts val="400"/>
              </a:spcAft>
            </a:pPr>
            <a:r>
              <a:rPr sz="950" b="1">
                <a:solidFill>
                  <a:srgbClr val="1C7293"/>
                </a:solidFill>
                <a:latin typeface="Calibri"/>
              </a:rPr>
              <a:t>EXPIRES BECAUSE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Single best 'all-weather' setup in the kit.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2743200" cy="640080"/>
          </a:xfrm>
          <a:prstGeom prst="roundRect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4630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PDH/PDL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7373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Until 2:00 PM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103120"/>
            <a:ext cx="2743200" cy="25146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240280"/>
            <a:ext cx="237744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1C7293"/>
                </a:solidFill>
                <a:latin typeface="Calibri"/>
              </a:rPr>
              <a:t>WINDOW LOGIC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Levels watched by every trader &amp; algo.</a:t>
            </a:r>
          </a:p>
          <a:p>
            <a:pPr algn="l">
              <a:spcAft>
                <a:spcPts val="400"/>
              </a:spcAft>
            </a:pPr>
            <a:r>
              <a:rPr sz="950" b="1">
                <a:solidFill>
                  <a:srgbClr val="1C7293"/>
                </a:solidFill>
                <a:latin typeface="Calibri"/>
              </a:rPr>
              <a:t>EDGE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Need time for the trade to play out.</a:t>
            </a:r>
          </a:p>
          <a:p>
            <a:pPr algn="l">
              <a:spcAft>
                <a:spcPts val="400"/>
              </a:spcAft>
            </a:pPr>
            <a:r>
              <a:rPr sz="950" b="1">
                <a:solidFill>
                  <a:srgbClr val="1C7293"/>
                </a:solidFill>
                <a:latin typeface="Calibri"/>
              </a:rPr>
              <a:t>EXPIRES BECAUSE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Cut off at 2:00 PM so target can hit before 3:15 force-close.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371600"/>
            <a:ext cx="2743200" cy="64008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14630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Gap-Cont.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17373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Morning only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2103120"/>
            <a:ext cx="2743200" cy="25146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59" y="2240280"/>
            <a:ext cx="237744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1C7293"/>
                </a:solidFill>
                <a:latin typeface="Calibri"/>
              </a:rPr>
              <a:t>WINDOW LOGIC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Gap energy lives in first 60-90 min.</a:t>
            </a:r>
          </a:p>
          <a:p>
            <a:pPr algn="l">
              <a:spcAft>
                <a:spcPts val="400"/>
              </a:spcAft>
            </a:pPr>
            <a:r>
              <a:rPr sz="950" b="1">
                <a:solidFill>
                  <a:srgbClr val="1C7293"/>
                </a:solidFill>
                <a:latin typeface="Calibri"/>
              </a:rPr>
              <a:t>EDGE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Needs overnight catalyst (news / earnings).</a:t>
            </a:r>
          </a:p>
          <a:p>
            <a:pPr algn="l">
              <a:spcAft>
                <a:spcPts val="400"/>
              </a:spcAft>
            </a:pPr>
            <a:r>
              <a:rPr sz="950" b="1">
                <a:solidFill>
                  <a:srgbClr val="1C7293"/>
                </a:solidFill>
                <a:latin typeface="Calibri"/>
              </a:rPr>
              <a:t>EXPIRES BECAUSE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By midday the gap is old news — fades.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937759"/>
            <a:ext cx="11247120" cy="1005840"/>
          </a:xfrm>
          <a:prstGeom prst="round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07492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5B841"/>
                </a:solidFill>
                <a:latin typeface="Calibri"/>
              </a:rPr>
              <a:t>Bottom 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440679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Each setup runs only when its statistical edge is highest. That's how 4 different playbooks share one trading day.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Strategy 5  ·  Intraday Stock Futures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
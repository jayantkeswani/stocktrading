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103120"/>
            <a:ext cx="182880" cy="2194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A5E9"/>
                </a:solidFill>
                <a:latin typeface="Calibri"/>
              </a:rPr>
              <a:t>STOCKTRADING  ·  STRATEGY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4688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Intraday Index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40156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0EA5E9"/>
                </a:solidFill>
                <a:latin typeface="Calibri"/>
              </a:rPr>
              <a:t>VWAP Pullback + Composite Bias + OI Confirmation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4348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alibri"/>
              </a:rPr>
              <a:t>How a single signal is born from 5 gates, 10 confidence factors, and one LLM check.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440680"/>
            <a:ext cx="11155680" cy="36576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532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A5E9"/>
                </a:solidFill>
                <a:latin typeface="Calibri"/>
              </a:rPr>
              <a:t>AT A GLANCE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0644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entry gates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80644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63550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trade windows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580644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63550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confidence factors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580644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≥55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63550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fire threshold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580644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3:15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63550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force-close (IST)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2743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Calibri"/>
              </a:rPr>
              <a:t>THE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What Strategy 2 actually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Strategy 2 · VWAP Pullback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9436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Strategy 2 buys index options when price returns to its VWAP in the direction of the established trend.</a:t>
            </a:r>
          </a:p>
          <a:p>
            <a:pPr algn="l">
              <a:spcBef>
                <a:spcPts val="400"/>
              </a:spcBef>
            </a:pP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0F172A"/>
                </a:solidFill>
                <a:latin typeface="Calibri"/>
              </a:rPr>
              <a:t>VWAP is the day's volume-weighted average price — the level around which most of the day's money has changed hands. Institutions defend it. In a trending day, price keeps drifting away from VWAP and then snapping back to it.</a:t>
            </a:r>
          </a:p>
          <a:p>
            <a:pPr algn="l">
              <a:spcBef>
                <a:spcPts val="400"/>
              </a:spcBef>
            </a:pP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0F172A"/>
                </a:solidFill>
                <a:latin typeface="Calibri"/>
              </a:rPr>
              <a:t>Each pullback to VWAP is a low-risk re-entry into the trend. We don't predict the bounce — we wait for a reversal candle, healthy (below-average) pullback volume, and a 10-factor confidence score above 55 before a single signal fires.</a:t>
            </a:r>
          </a:p>
          <a:p>
            <a:pPr algn="l">
              <a:spcBef>
                <a:spcPts val="400"/>
              </a:spcBef>
            </a:pP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0F172A"/>
                </a:solidFill>
                <a:latin typeface="Calibri"/>
              </a:rPr>
              <a:t>Five layers of confirmation must all pass. There is exactly ONE core setup — VWAP pullback — applied to NIFTY, BANKNIFTY, FINNIFTY, SENSEX, and MIDCPNIFTY. CE if pulling back from above VWAP, PE if rallying back from below.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508760"/>
            <a:ext cx="493776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31152" y="1700784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618488"/>
            <a:ext cx="4023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Composite intraday bias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947672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Live 6-factor score. STRONG opposing bias vetoes the trade.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2468880"/>
            <a:ext cx="493776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31152" y="2660904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578608"/>
            <a:ext cx="4023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VWAP proximity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907792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Price must be within 0.15% of VWAP to qualify as a pullback.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3429000"/>
            <a:ext cx="493776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31152" y="3621024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538728"/>
            <a:ext cx="4023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Reversal candle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867912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Bullish or bearish engulfing / pin / doji on the 5m chart.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4389120"/>
            <a:ext cx="493776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31152" y="4581144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498848"/>
            <a:ext cx="4023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Healthy volume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828032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Pullback volume must be ≤ 1.2× the 20-period average.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5349240"/>
            <a:ext cx="493776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31152" y="5541264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5458968"/>
            <a:ext cx="4023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Confidence ≥ 55 / 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5788152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10-factor weighted composite. Below threshold = signal suppressed.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2743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Calibri"/>
              </a:rPr>
              <a:t>WHEN THE STRATEGY TRADES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Two windows, one dead zone, one hard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Strategy 2 · VWAP Pullback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</a:p>
        </p:txBody>
      </p:sp>
      <p:pic>
        <p:nvPicPr>
          <p:cNvPr id="7" name="Picture 6" descr="chart_wind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11247120" cy="31202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4526280"/>
            <a:ext cx="3703320" cy="1828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526280"/>
            <a:ext cx="91440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66344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Window 1 — 9:45 to 11:00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93208"/>
            <a:ext cx="33375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Opening volatility settles into a clear direction. The first 30 min after open are skipped because VWAP is still finding its level.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4526280"/>
            <a:ext cx="3703320" cy="1828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4526280"/>
            <a:ext cx="91440" cy="18288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66344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Dead Zone — 11:30 to 1:30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5093208"/>
            <a:ext cx="33375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Lunch lull. Range-bound chop. Pullbacks here often reverse against us. Signals during the dead zone are persisted as INFORMATIONAL — visible in the UI but never executed.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4526280"/>
            <a:ext cx="3703320" cy="1828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4526280"/>
            <a:ext cx="91440" cy="1828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466344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Window 2 — 1:45 to 2:45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5093208"/>
            <a:ext cx="33375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Afternoon trend resumes. Window closes 30 min before the 3:15 force-close so the trade has time to play 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2743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Calibri"/>
              </a:rPr>
              <a:t>GATE 1 —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Composite intraday bias: 6 factors, one signed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Strategy 2 · VWAP Pullback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</a:p>
        </p:txBody>
      </p:sp>
      <p:pic>
        <p:nvPicPr>
          <p:cNvPr id="7" name="Picture 6" descr="chart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7040880" cy="30341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5087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How direction is decided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0F172A"/>
                </a:solidFill>
                <a:latin typeface="Calibri"/>
              </a:rPr>
              <a:t>Each minute, the strategy computes a signed score in [-1, +1] from six factors with the weights shown.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2606040"/>
            <a:ext cx="420624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80960" y="2606040"/>
            <a:ext cx="73152" cy="7772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69748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Calibri"/>
              </a:rPr>
              <a:t>STRONG  |score| ≥ 0.50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971800"/>
            <a:ext cx="3931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Opposing direction is vetoed entirely.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3456432"/>
            <a:ext cx="420624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3456432"/>
            <a:ext cx="73152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54787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Calibri"/>
              </a:rPr>
              <a:t>MODERATE  |score| ≥ 0.20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822192"/>
            <a:ext cx="3931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Both directions allowed; misalignment hurts confidence.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4306824"/>
            <a:ext cx="420624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0" y="4306824"/>
            <a:ext cx="73152" cy="77724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39826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Calibri"/>
              </a:rPr>
              <a:t>WEAK  |score| &lt; 0.20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672584"/>
            <a:ext cx="3931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Pure structural rule applies — pullback side wins.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5349240"/>
            <a:ext cx="4206240" cy="1005840"/>
          </a:xfrm>
          <a:prstGeom prst="rect">
            <a:avLst/>
          </a:prstGeom>
          <a:solidFill>
            <a:srgbClr val="FEF3C7"/>
          </a:solidFill>
          <a:ln w="635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5552" y="5440680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2400E"/>
                </a:solidFill>
                <a:latin typeface="Calibri"/>
              </a:rPr>
              <a:t>EXAMPLE  ·  bearish gap-down after bullish yesterday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571500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Score = -0.32  →  MODERATE BEARISH. PE signals can still fire; CE entries take a confidence haircut via bias_alignment.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2743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Calibri"/>
              </a:rPr>
              <a:t>ANATOMY OF A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All 5 gates must pass — every minute, every symbol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Strategy 2 · VWAP Pullback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2123785" cy="4846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2123785" cy="228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166658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3A8A"/>
                </a:solidFill>
                <a:latin typeface="Calibri"/>
              </a:rPr>
              <a:t>GATE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166658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Bias gate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834640"/>
            <a:ext cx="1666585" cy="3657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26080"/>
            <a:ext cx="166658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Intraday bias is not STRONG opposing.</a:t>
            </a:r>
          </a:p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is_blocked_by_bias() in intraday_bias.py.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166658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03520"/>
            <a:ext cx="166658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STRONG bearish vetoes CE; STRONG bullish vetoes PE.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5577" y="1508760"/>
            <a:ext cx="2123785" cy="4846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5577" y="1508760"/>
            <a:ext cx="2123785" cy="2286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4177" y="1874520"/>
            <a:ext cx="166658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Calibri"/>
              </a:rPr>
              <a:t>GATE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4177" y="2194560"/>
            <a:ext cx="166658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VWAP proximity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74177" y="2834640"/>
            <a:ext cx="1666585" cy="3657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4177" y="2926080"/>
            <a:ext cx="166658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|price − VWAP| / VWAP ≤ 0.15%.</a:t>
            </a:r>
          </a:p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is_pullback_to_vwap() in vwap.py.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4177" y="5029200"/>
            <a:ext cx="166658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WHY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4177" y="5303520"/>
            <a:ext cx="166658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Sign of (price − VWAP) decides CE vs PE candidate.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33954" y="1508760"/>
            <a:ext cx="2123785" cy="4846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33954" y="1508760"/>
            <a:ext cx="2123785" cy="228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62554" y="1874520"/>
            <a:ext cx="166658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GATE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62554" y="2194560"/>
            <a:ext cx="166658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Reversal candle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62554" y="2834640"/>
            <a:ext cx="1666585" cy="3657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62554" y="2926080"/>
            <a:ext cx="166658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Bullish/bearish engulfing, pin, or doji+follow on 5-min chart.</a:t>
            </a:r>
          </a:p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is_bullish_reversal() / is_bearish_reversal() in candle_patterns.py.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2554" y="5029200"/>
            <a:ext cx="166658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WHY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62554" y="5303520"/>
            <a:ext cx="166658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Body magnitude and wick cleanliness feed reversal_quality.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22332" y="1508760"/>
            <a:ext cx="2123785" cy="4846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22332" y="1508760"/>
            <a:ext cx="2123785" cy="228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50932" y="1874520"/>
            <a:ext cx="166658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GATE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50932" y="2194560"/>
            <a:ext cx="166658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Volume sanity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50932" y="2834640"/>
            <a:ext cx="1666585" cy="3657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50932" y="2926080"/>
            <a:ext cx="166658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Current 5m volume ≤ 1.2× 20-period average.</a:t>
            </a:r>
          </a:p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Computed on stock-futures volume when available.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50932" y="5029200"/>
            <a:ext cx="166658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WHY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50932" y="5303520"/>
            <a:ext cx="166658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Healthy pullback, not panic. Below avg = bonus.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10709" y="1508760"/>
            <a:ext cx="2123785" cy="4846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10709" y="1508760"/>
            <a:ext cx="2123785" cy="2286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39309" y="1874520"/>
            <a:ext cx="166658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GATE 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39309" y="2194560"/>
            <a:ext cx="166658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Confidence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39309" y="2834640"/>
            <a:ext cx="1666585" cy="3657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39309" y="2926080"/>
            <a:ext cx="166658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10-factor weighted composite ≥ persist threshold (default 30) to record, ≥ 55 to fire.</a:t>
            </a:r>
          </a:p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compute_confidence() in indicators/confidence.py.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39309" y="5029200"/>
            <a:ext cx="166658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WHY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39309" y="5303520"/>
            <a:ext cx="166658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Below threshold → suppressed. Stored for post-mortem 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2743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Calibri"/>
              </a:rPr>
              <a:t>WALKTHROUGH · BUY 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Uptrend → pullback to VWAP → bullish reversal → buy a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Strategy 2 · VWAP Pullback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</a:p>
        </p:txBody>
      </p:sp>
      <p:pic>
        <p:nvPicPr>
          <p:cNvPr id="7" name="Picture 6" descr="chart_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772400" cy="37808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3920" y="15087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Step by step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92024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883664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Calibri"/>
              </a:rPr>
              <a:t>Trend up, price &gt; VWAP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121408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Intraday bias is BULLISH MODERATE — CE eligible.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269748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660904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Calibri"/>
              </a:rPr>
              <a:t>Price drifts back to VWAP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898648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Distance closes to within 0.15% — Gate 2 passes.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347472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3438144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Calibri"/>
              </a:rPr>
              <a:t>Bullish engulfing prints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675888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Body engulfs prior candle on thin wick — Gate 3 passes.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425196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4215384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Calibri"/>
              </a:rPr>
              <a:t>Pullback volume = 0.6× avg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453128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Below 1.2× cap — Gate 4 passes; volume_quality scores high.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50292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4992624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Calibri"/>
              </a:rPr>
              <a:t>Confidence = 79.5 / 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5230368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Above 55 fire-threshold — signal fires BUY 24000 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solidFill>
            <a:srgbClr val="ECFDF5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007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Calibri"/>
              </a:rPr>
              <a:t>SL = nearest support below entry  (VWAP-band → swing-low → CPR-BC → CPR-S1 → PDL → max-PE-OI strike)     ·     Target = nearest resistance above (mirror of above)     ·     R:R must be ≥ 1:1 or signal is discarded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2743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Calibri"/>
              </a:rPr>
              <a:t>WALKTHROUGH · BUY 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Downtrend → rally to VWAP → bearish reversal → buy a 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Strategy 2 · VWAP Pullback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</a:p>
        </p:txBody>
      </p:sp>
      <p:pic>
        <p:nvPicPr>
          <p:cNvPr id="7" name="Picture 6" descr="chart_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772400" cy="37791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3920" y="15087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Step by step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92024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883664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Calibri"/>
              </a:rPr>
              <a:t>Trend down, price &lt; VWAP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121408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Intraday bias is BEARISH MODERATE — PE eligible.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269748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660904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Calibri"/>
              </a:rPr>
              <a:t>Price rallies back to VWAP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898648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Returns to within 0.15% from below — Gate 2 passes.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347472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3438144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Calibri"/>
              </a:rPr>
              <a:t>Bearish engulfing prints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675888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Body engulfs prior bullish candle — Gate 3 passes.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425196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4215384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Calibri"/>
              </a:rPr>
              <a:t>Rally volume = 0.7× avg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453128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Sellers re-engaging on a quiet bounce — Gate 4 passes.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50292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4992624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Calibri"/>
              </a:rPr>
              <a:t>Confidence = 72 / 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5230368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Above 55 — signal fires BUY 24400 PE.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solidFill>
            <a:srgbClr val="FEF2F2"/>
          </a:solidFill>
          <a:ln w="63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007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Calibri"/>
              </a:rPr>
              <a:t>SL = nearest resistance above entry (VWAP-band → swing-high → CPR-TC → CPR-R1 → PDH → max-CE-OI strike)     ·     Target = nearest support below     ·     Same R:R ≥ 1:1 hurdle as the CE side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2743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Calibri"/>
              </a:rPr>
              <a:t>GATE 5 — 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10-factor weighted composite must clear 55 / 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Strategy 2 · VWAP Pullback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</a:p>
        </p:txBody>
      </p:sp>
      <p:pic>
        <p:nvPicPr>
          <p:cNvPr id="7" name="Picture 6" descr="chart_conf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7040880" cy="34476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5087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How the 79.5 was earned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0F172A"/>
                </a:solidFill>
                <a:latin typeface="Calibri"/>
              </a:rPr>
              <a:t>Each of 10 factors returns a 0–1 raw score; the weighted sum × 100 is the deterministic confidence.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2423160"/>
            <a:ext cx="420624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45552" y="2532888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3A8A"/>
                </a:solidFill>
                <a:latin typeface="Calibri"/>
              </a:rPr>
              <a:t>Score ≥ 30 → persisted    ·    Score ≥ 55 → executable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31089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What dominates this score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0F172A"/>
                </a:solidFill>
                <a:latin typeface="Calibri"/>
              </a:rPr>
              <a:t>•  bias_alignment carries the heaviest weight (0.20). When the live bias matches the signal direction it can earn ~17 points alone.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0F172A"/>
                </a:solidFill>
                <a:latin typeface="Calibri"/>
              </a:rPr>
              <a:t>•  reversal_quality (0.15) rewards clean engulfing bodies with small wicks. A weak doji barely scores.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0F172A"/>
                </a:solidFill>
                <a:latin typeface="Calibri"/>
              </a:rPr>
              <a:t>•  cpr_narrow_trending and time_of_day (0.05 each) are small but decisive on borderline setups.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4983480"/>
            <a:ext cx="4206240" cy="1417320"/>
          </a:xfrm>
          <a:prstGeom prst="rect">
            <a:avLst/>
          </a:prstGeom>
          <a:solidFill>
            <a:srgbClr val="F5F3FF"/>
          </a:solidFill>
          <a:ln w="6350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45552" y="5074920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D28D9"/>
                </a:solidFill>
                <a:latin typeface="Calibri"/>
              </a:rPr>
              <a:t>LLM OVERLAY  ·  Gemini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5367528"/>
            <a:ext cx="39319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After all 5 gates pass, a Gemini call reviews the full snapshot and returns ±15 confidence adjustment, an ai_summary, ai_rationale, key_supports / key_risks, recommended_action, and suggested_lot_adjustment. 8-second timeout — never blocks the signal if it fails.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2743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Calibri"/>
              </a:rPr>
              <a:t>FROM SIGNAL TO A REAL TRADE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Index level → option premium → number of lots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Strategy 2 · VWAP Pullback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</a:p>
        </p:txBody>
      </p:sp>
      <p:pic>
        <p:nvPicPr>
          <p:cNvPr id="7" name="Picture 6" descr="chart_prem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955279" cy="35111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709160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  <a:latin typeface="Consolas"/>
              </a:rPr>
              <a:t>premium_sl     = entry_premium − Δ × (index_entry − index_sl)</a:t>
            </a:r>
          </a:p>
          <a:p>
            <a:pPr algn="l"/>
            <a:r>
              <a:rPr sz="1150" b="0" i="0">
                <a:solidFill>
                  <a:srgbClr val="0F172A"/>
                </a:solidFill>
                <a:latin typeface="Consolas"/>
              </a:rPr>
              <a:t>premium_target = entry_premium + Δ × (index_target − index_entry)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40680"/>
            <a:ext cx="79552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ATM strike → Δ ≈ 0.50    ·    1-strike ITM → Δ ≈ 0.60. If no market-structure level exists, fall back to 30 % SL (35 % when bias opposes) with 1.5× R:R on the premium itself.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371600"/>
            <a:ext cx="3200400" cy="5029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0" y="1371600"/>
            <a:ext cx="3200400" cy="3657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51392" y="1426464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POSITION SIZING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1392" y="18745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How many lots?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0F172A"/>
                </a:solidFill>
                <a:latin typeface="Consolas"/>
              </a:rPr>
              <a:t>risk_amount = capital × risk_pct</a:t>
            </a:r>
            <a:br/>
            <a:r>
              <a:rPr sz="1000" b="0" i="0">
                <a:solidFill>
                  <a:srgbClr val="0F172A"/>
                </a:solidFill>
                <a:latin typeface="Consolas"/>
              </a:rPr>
              <a:t>         = ₹10L × 2 % = ₹20,000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0F172A"/>
                </a:solidFill>
                <a:latin typeface="Consolas"/>
              </a:rPr>
              <a:t>risk_per_lot = |entry − sl| × lot_size</a:t>
            </a:r>
            <a:br/>
            <a:r>
              <a:rPr sz="1000" b="0" i="0">
                <a:solidFill>
                  <a:srgbClr val="0F172A"/>
                </a:solidFill>
                <a:latin typeface="Consolas"/>
              </a:rPr>
              <a:t>         = ₹35 × 75 = ₹2,625</a:t>
            </a:r>
          </a:p>
          <a:p>
            <a:pPr algn="l">
              <a:spcBef>
                <a:spcPts val="600"/>
              </a:spcBef>
            </a:pPr>
            <a:r>
              <a:rPr sz="1000" b="0" i="0">
                <a:solidFill>
                  <a:srgbClr val="0F172A"/>
                </a:solidFill>
                <a:latin typeface="Consolas"/>
              </a:rPr>
              <a:t>lots = floor(20000 / 2625) × vix_mul</a:t>
            </a:r>
            <a:br/>
            <a:r>
              <a:rPr sz="1000" b="0" i="0">
                <a:solidFill>
                  <a:srgbClr val="0F172A"/>
                </a:solidFill>
                <a:latin typeface="Consolas"/>
              </a:rPr>
              <a:t>         = 7 × 1.0 = 7</a:t>
            </a:r>
            <a:br/>
            <a:r>
              <a:rPr sz="1000" b="0" i="0">
                <a:solidFill>
                  <a:srgbClr val="0F172A"/>
                </a:solidFill>
                <a:latin typeface="Consolas"/>
              </a:rPr>
              <a:t>lots = clamp(lots, 1, max_lots=5)</a:t>
            </a:r>
            <a:br/>
            <a:r>
              <a:rPr sz="1000" b="0" i="0">
                <a:solidFill>
                  <a:srgbClr val="0F172A"/>
                </a:solidFill>
                <a:latin typeface="Consolas"/>
              </a:rPr>
              <a:t>         → 5 lots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1392" y="43891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VIX MULTIPLIER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51392" y="4663440"/>
            <a:ext cx="2926080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51392" y="4663440"/>
            <a:ext cx="54864" cy="2560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79408" y="470001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Calibri"/>
              </a:rPr>
              <a:t>&lt; 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4700016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1.1×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51392" y="4956048"/>
            <a:ext cx="2926080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51392" y="4956048"/>
            <a:ext cx="54864" cy="256032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79408" y="499262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Calibri"/>
              </a:rPr>
              <a:t>14 – 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4992624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1.0×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51392" y="5248656"/>
            <a:ext cx="2926080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51392" y="5248656"/>
            <a:ext cx="54864" cy="2560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79408" y="528523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Calibri"/>
              </a:rPr>
              <a:t>18 – 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5285232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0.9×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51392" y="5541264"/>
            <a:ext cx="2926080" cy="2560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51392" y="5541264"/>
            <a:ext cx="54864" cy="25603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79408" y="5577840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Calibri"/>
              </a:rPr>
              <a:t>&gt; 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5577840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0.8× (also blocks at 22)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2743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Calibri"/>
              </a:rPr>
              <a:t>AFTER THE TRADE FIRES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Exits, LLM actions, and the hard risk floor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Strategy 2 · VWAP Pullback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3703320" cy="4846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3703320" cy="4114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581912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EXIT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SL hit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3429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premium ≤ premium_sl  →  close immediately.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Target hit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3429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premium ≥ premium_target  →  close.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VWAP invalidation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3429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For a CE: if price drops below VWAP × 0.998, close. Mirrored for PE.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3:15 PM 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94960"/>
            <a:ext cx="3429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Hard force-close on every intraday position. No exceptions.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1508760"/>
            <a:ext cx="3703320" cy="4846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1508760"/>
            <a:ext cx="3703320" cy="41148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6552" y="1581912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LLM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103120"/>
            <a:ext cx="3429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recommended_action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2441448"/>
            <a:ext cx="1874519" cy="2560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PROCEED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761488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Default — execute as sized.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310128"/>
            <a:ext cx="1874519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PROCEED_WITH_CAUTION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3630168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One major risk — execute but flag in UI.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4178808"/>
            <a:ext cx="1874519" cy="25603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RECONSIDER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498848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Two+ major risks  ·  adjustment ≤ -10. Signal still saved.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5093208"/>
            <a:ext cx="3429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suggested_lot_adjustment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5458968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REDUCE_50_PCT  →  lots halved (floor 1)</a:t>
            </a:r>
          </a:p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SKIP  →  executable=False, but signal persisted for study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1508760"/>
            <a:ext cx="3703320" cy="4846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1508760"/>
            <a:ext cx="3703320" cy="4114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1581912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HARD RISK FILTERS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10312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Calibri"/>
              </a:rPr>
              <a:t>VIX ≥ 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2359152"/>
            <a:ext cx="3429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Signal saved with blocked_reason = 'VIX extreme'.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288036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Calibri"/>
              </a:rPr>
              <a:t>Daily drawdown limit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3136392"/>
            <a:ext cx="3429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Cumulative losses ≥ 5 % of capital → no further entries today.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65760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Calibri"/>
              </a:rPr>
              <a:t>Max trades / day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913632"/>
            <a:ext cx="3429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2–3 trades cap. Anything beyond → blocked_reason set, signal saved.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43484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Calibri"/>
              </a:rPr>
              <a:t>After 3:15 PM IST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690872"/>
            <a:ext cx="3429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Strategy doesn't even evaluate. No new entries past force-close.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521208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Calibri"/>
              </a:rPr>
              <a:t>Same-symbol+direction open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5468112"/>
            <a:ext cx="3429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Skipped to prevent stacking the same 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